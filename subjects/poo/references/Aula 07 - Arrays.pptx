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4"/>
  </p:notesMasterIdLst>
  <p:sldIdLst>
    <p:sldId id="270" r:id="rId3"/>
    <p:sldId id="332" r:id="rId4"/>
    <p:sldId id="348" r:id="rId5"/>
    <p:sldId id="349" r:id="rId6"/>
    <p:sldId id="356" r:id="rId7"/>
    <p:sldId id="355" r:id="rId8"/>
    <p:sldId id="357" r:id="rId9"/>
    <p:sldId id="358" r:id="rId10"/>
    <p:sldId id="359" r:id="rId11"/>
    <p:sldId id="350" r:id="rId12"/>
    <p:sldId id="360" r:id="rId13"/>
    <p:sldId id="351" r:id="rId14"/>
    <p:sldId id="361" r:id="rId15"/>
    <p:sldId id="362" r:id="rId16"/>
    <p:sldId id="352" r:id="rId17"/>
    <p:sldId id="366" r:id="rId18"/>
    <p:sldId id="363" r:id="rId19"/>
    <p:sldId id="364" r:id="rId20"/>
    <p:sldId id="365" r:id="rId21"/>
    <p:sldId id="333" r:id="rId22"/>
    <p:sldId id="27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1o93AmpzkPn9vSh0sfr+Yg7cT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E24686-2F76-A1AA-4D4F-E2EFE0A5EA5A}" v="3" dt="2026-04-10T11:15:46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ricio Santana" userId="187d9a0eb7d8e7f9" providerId="Windows Live" clId="Web-{9EE24686-2F76-A1AA-4D4F-E2EFE0A5EA5A}"/>
    <pc:docChg chg="modSld">
      <pc:chgData name="Fabricio Santana" userId="187d9a0eb7d8e7f9" providerId="Windows Live" clId="Web-{9EE24686-2F76-A1AA-4D4F-E2EFE0A5EA5A}" dt="2026-04-10T11:15:43.750" v="0" actId="20577"/>
      <pc:docMkLst>
        <pc:docMk/>
      </pc:docMkLst>
      <pc:sldChg chg="modSp">
        <pc:chgData name="Fabricio Santana" userId="187d9a0eb7d8e7f9" providerId="Windows Live" clId="Web-{9EE24686-2F76-A1AA-4D4F-E2EFE0A5EA5A}" dt="2026-04-10T11:15:43.750" v="0" actId="20577"/>
        <pc:sldMkLst>
          <pc:docMk/>
          <pc:sldMk cId="0" sldId="270"/>
        </pc:sldMkLst>
        <pc:spChg chg="mod">
          <ac:chgData name="Fabricio Santana" userId="187d9a0eb7d8e7f9" providerId="Windows Live" clId="Web-{9EE24686-2F76-A1AA-4D4F-E2EFE0A5EA5A}" dt="2026-04-10T11:15:43.750" v="0" actId="20577"/>
          <ac:spMkLst>
            <pc:docMk/>
            <pc:sldMk cId="0" sldId="270"/>
            <ac:spMk id="3" creationId="{E9F41D43-4D7D-4E5A-F2A7-C19E783527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15584E4-C350-831F-2806-DEAB4171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06C15607-2EBA-07D0-427E-6385380E0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CF79F484-1FB9-047D-9C29-C0780E556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6770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DACBA0D-FE90-3170-AC0F-F788D781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2C52D8EF-C012-A54A-8E09-00AD9970D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45EEF69D-2E63-AF24-9E7D-078A6E642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4818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27DDD137-E02F-91A1-3FBB-92970C0D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F4452482-FA70-C547-B581-19139EF37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3C1F24CD-2A7D-243B-F5E6-E08BF2964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9892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EE222F5-B1BB-A46B-7289-410D2FCB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EA1CACA3-25C7-8CC7-9F68-72B03C6DD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EE645493-0971-52DC-87E7-86AB12EAB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371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4D3A8BE-A1A0-AD21-0176-98E57C96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0589FF38-1D7A-1EB2-1B0E-810911D1E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E914EA76-0E0E-B634-B494-426AAF3FE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1509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F962778E-B780-963C-D507-421990FB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8087A84F-1AED-95D6-87D4-3456EB4AC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8214404B-D14A-30AD-E388-2CC9851BF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6670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AE7EB83F-5B74-BA8F-F8E5-25C46E218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E035F290-BDFB-4B74-EDEA-E89F70271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6AE9524D-4BF5-0B52-F839-537713149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4792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3D339ACE-65AE-3735-7861-340367FB0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F9C44CFB-21AD-5CBF-3BF6-D84D317968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A3B20DF5-AB99-8D75-30CA-129DE1D7D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0844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AF85045F-AB3C-757A-5D3E-1ECEF1C5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CE4FB035-8DF4-2F04-37FE-8AB03D37F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C3430109-02CB-4CDA-059F-FD07D5CA3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4414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230D685D-B546-9C86-5C99-C4836C00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FC8C99C6-CFAC-0611-401F-A0AD41D69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E44888AA-11D9-830E-B2B8-6C2AEE4DF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0877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FCE791D-2625-9E20-354C-A586779D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1394CCFD-6CD9-9086-305D-4651A7323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010AA915-4F82-0715-ADFB-E5F1C2438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4663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AA0A0DEC-7667-CA6E-BEA1-E2AAD45C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E66A912B-0B8E-8B7E-01FC-9AAA8191A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EA8B3164-26FB-313E-FEB0-59A80C25D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1189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A3EBF88-8507-07F0-5E45-FFD9FDFA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9ADCFB2F-2868-BD95-4E9B-403970065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FF12F259-5442-D8A3-7113-DEB297A00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462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3AE7D2C-95D0-E63A-A5E8-A451982F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A9A2261E-CC51-CD26-2CCE-234CCADA5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C145431E-0C68-3A06-1752-0E6552EBC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8252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74DF0C9F-7F6C-9765-8331-2CF4F514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3B756D71-26D0-6629-1FB8-5260129BEF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089CCC39-5CBA-DCE8-14ED-3FF1A2F42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6666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B92A7A4-4397-1592-9F0C-33E171CE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A6E77145-41AD-1B46-4B7F-83B3169299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861AB3C8-F3A0-A772-9E1C-BBD99ED18F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6854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68C23D0-F687-0A45-5E7B-E0F441FB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81BCD263-A41C-D7EC-F3C5-234D31AA5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C8113F1E-D853-1223-CBB8-EDFCBED8F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769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A0CB747-6F90-2CF8-6954-95ACB516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0445A244-A473-43BA-A16A-9BC985BC6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8C8EC154-F55C-B507-CBFB-4BB5F9550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15470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2436E967-1253-8A76-B7EB-2F63A633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>
            <a:extLst>
              <a:ext uri="{FF2B5EF4-FFF2-40B4-BE49-F238E27FC236}">
                <a16:creationId xmlns:a16="http://schemas.microsoft.com/office/drawing/2014/main" id="{4D73AC5B-5397-8A3A-04F1-F7AA876B1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3:notes">
            <a:extLst>
              <a:ext uri="{FF2B5EF4-FFF2-40B4-BE49-F238E27FC236}">
                <a16:creationId xmlns:a16="http://schemas.microsoft.com/office/drawing/2014/main" id="{27300066-71FB-94DF-A708-E46327CF0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55429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3995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8640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556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4837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470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082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1722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9272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19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823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67518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reddit.com/r/ProgrammerHumor/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oracle.com/en/java/javase/21/docs/api/java.base/java/util/Arrays.htm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fabriciosantana/poo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87885" y="4722395"/>
            <a:ext cx="67545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Prof. Fabricio Santana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68096" y="1859380"/>
            <a:ext cx="675436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1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Programação Orientada a Objetos</a:t>
            </a: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14DAE77-81CF-4AF7-95D2-0F844511433B}"/>
              </a:ext>
            </a:extLst>
          </p:cNvPr>
          <p:cNvSpPr/>
          <p:nvPr/>
        </p:nvSpPr>
        <p:spPr>
          <a:xfrm>
            <a:off x="7522464" y="6310507"/>
            <a:ext cx="3121367" cy="37555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www.linkedin.com/in/fabriciofsantana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E49DA9B-2AB1-41BD-B8F0-8DE2492BC0C4}"/>
              </a:ext>
            </a:extLst>
          </p:cNvPr>
          <p:cNvSpPr/>
          <p:nvPr/>
        </p:nvSpPr>
        <p:spPr>
          <a:xfrm>
            <a:off x="7522464" y="5934955"/>
            <a:ext cx="2425664" cy="37555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fabricio.santana@idp.edu.br</a:t>
            </a:r>
          </a:p>
        </p:txBody>
      </p:sp>
      <p:sp>
        <p:nvSpPr>
          <p:cNvPr id="2" name="Google Shape;84;p1">
            <a:extLst>
              <a:ext uri="{FF2B5EF4-FFF2-40B4-BE49-F238E27FC236}">
                <a16:creationId xmlns:a16="http://schemas.microsoft.com/office/drawing/2014/main" id="{F4840A24-C479-B2E8-DCA1-305940DFA116}"/>
              </a:ext>
            </a:extLst>
          </p:cNvPr>
          <p:cNvSpPr txBox="1"/>
          <p:nvPr/>
        </p:nvSpPr>
        <p:spPr>
          <a:xfrm>
            <a:off x="768096" y="3428999"/>
            <a:ext cx="658820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500" kern="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endParaRPr lang="pt-BR" sz="2500" i="1" dirty="0" err="1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9F41D43-4D7D-4E5A-F2A7-C19E783527DC}"/>
              </a:ext>
            </a:extLst>
          </p:cNvPr>
          <p:cNvSpPr/>
          <p:nvPr/>
        </p:nvSpPr>
        <p:spPr>
          <a:xfrm>
            <a:off x="7526492" y="5559403"/>
            <a:ext cx="731290" cy="375552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>
                <a:solidFill>
                  <a:srgbClr val="FFFFFF"/>
                </a:solidFill>
              </a:rPr>
              <a:t>2026.1</a:t>
            </a: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68AAF017-1D19-D2B9-F367-8CC2591A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28E3ABC8-8D9A-5903-D8BD-ABFCFC86A328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O que estudamos até aqui?</a:t>
            </a:r>
          </a:p>
        </p:txBody>
      </p:sp>
    </p:spTree>
    <p:extLst>
      <p:ext uri="{BB962C8B-B14F-4D97-AF65-F5344CB8AC3E}">
        <p14:creationId xmlns:p14="http://schemas.microsoft.com/office/powerpoint/2010/main" val="291891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EF3D8B08-B439-4132-0DDD-C4F12111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D9E45F50-36D2-9F3F-4937-43BA425F12D6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Arrays</a:t>
            </a:r>
            <a:endParaRPr lang="pt-BR" sz="40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6F33603-ED9C-734A-DA31-124436490CE8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dirty="0">
                <a:latin typeface="+mn-lt"/>
              </a:rPr>
              <a:t>Estrutura de dados</a:t>
            </a:r>
            <a:r>
              <a:rPr lang="pt-BR" sz="2500" dirty="0">
                <a:latin typeface="+mn-lt"/>
              </a:rPr>
              <a:t>: coleção de dados relacionados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dirty="0" err="1">
                <a:latin typeface="+mn-lt"/>
              </a:rPr>
              <a:t>Array</a:t>
            </a:r>
            <a:r>
              <a:rPr lang="pt-BR" sz="2500" b="1" dirty="0">
                <a:latin typeface="+mn-lt"/>
              </a:rPr>
              <a:t>: </a:t>
            </a:r>
            <a:r>
              <a:rPr lang="pt-BR" sz="2500" dirty="0">
                <a:latin typeface="+mn-lt"/>
              </a:rPr>
              <a:t>estruturas de dados que consistem em itens de dados relacionados do </a:t>
            </a:r>
            <a:r>
              <a:rPr lang="pt-BR" sz="2500" b="1" dirty="0">
                <a:latin typeface="+mn-lt"/>
              </a:rPr>
              <a:t>mesmo tipo</a:t>
            </a:r>
            <a:r>
              <a:rPr lang="pt-BR" sz="2500" dirty="0">
                <a:latin typeface="+mn-lt"/>
              </a:rPr>
              <a:t>.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Composto por elementos ou componentes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É um grupo de variáveis contendo valores do mesmo tipo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i="1" dirty="0" err="1">
                <a:latin typeface="+mn-lt"/>
              </a:rPr>
              <a:t>Primitive</a:t>
            </a:r>
            <a:r>
              <a:rPr lang="pt-BR" sz="2500" i="1" dirty="0">
                <a:latin typeface="+mn-lt"/>
              </a:rPr>
              <a:t> </a:t>
            </a:r>
            <a:r>
              <a:rPr lang="pt-BR" sz="2500" i="1" dirty="0" err="1">
                <a:latin typeface="+mn-lt"/>
              </a:rPr>
              <a:t>types</a:t>
            </a:r>
            <a:r>
              <a:rPr lang="pt-BR" sz="2500" dirty="0">
                <a:latin typeface="+mn-lt"/>
              </a:rPr>
              <a:t> ou </a:t>
            </a:r>
            <a:r>
              <a:rPr lang="pt-BR" sz="2500" i="1" dirty="0" err="1">
                <a:latin typeface="+mn-lt"/>
              </a:rPr>
              <a:t>Reference</a:t>
            </a:r>
            <a:r>
              <a:rPr lang="pt-BR" sz="2500" i="1" dirty="0">
                <a:latin typeface="+mn-lt"/>
              </a:rPr>
              <a:t> </a:t>
            </a:r>
            <a:r>
              <a:rPr lang="pt-BR" sz="2500" i="1" dirty="0" err="1">
                <a:latin typeface="+mn-lt"/>
              </a:rPr>
              <a:t>Types</a:t>
            </a:r>
            <a:endParaRPr lang="pt-BR" sz="2500" i="1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Uma vez criado, permanecem do mesmo tamanho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Para aumentar o tamanho, deve-se criar um novo </a:t>
            </a:r>
            <a:r>
              <a:rPr lang="pt-BR" sz="2500" dirty="0" err="1">
                <a:latin typeface="+mn-lt"/>
              </a:rPr>
              <a:t>array</a:t>
            </a: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Índice: posição de um elemento no </a:t>
            </a:r>
            <a:r>
              <a:rPr lang="pt-BR" sz="2500" dirty="0" err="1">
                <a:latin typeface="+mn-lt"/>
              </a:rPr>
              <a:t>array</a:t>
            </a: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F8899D-C16D-CB9D-A119-2D46CE52E3CA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92470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9B19DF56-31A4-0CE7-D104-E9D9E57B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4BA3786-2255-CE2F-7584-C709B32B4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845" y="3379891"/>
            <a:ext cx="4815155" cy="2873995"/>
          </a:xfrm>
          <a:prstGeom prst="rect">
            <a:avLst/>
          </a:prstGeom>
        </p:spPr>
      </p:pic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3A879715-D22E-AD28-AFA9-64361FA8B0CF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Representação Lógica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0755A609-5709-3B77-B345-FBB9C11EFB8D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i="1" dirty="0" err="1">
                <a:latin typeface="+mn-lt"/>
              </a:rPr>
              <a:t>Array-access</a:t>
            </a:r>
            <a:r>
              <a:rPr lang="pt-BR" sz="2500" i="1" dirty="0">
                <a:latin typeface="+mn-lt"/>
              </a:rPr>
              <a:t> expression.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i="1" dirty="0" err="1">
                <a:latin typeface="+mn-lt"/>
              </a:rPr>
              <a:t>nome_do_array</a:t>
            </a:r>
            <a:r>
              <a:rPr lang="pt-BR" sz="2500" i="1" dirty="0">
                <a:latin typeface="+mn-lt"/>
              </a:rPr>
              <a:t>[</a:t>
            </a:r>
            <a:r>
              <a:rPr lang="pt-BR" sz="2500" i="1" dirty="0" err="1">
                <a:latin typeface="+mn-lt"/>
              </a:rPr>
              <a:t>indice_do_elemento</a:t>
            </a:r>
            <a:r>
              <a:rPr lang="pt-BR" sz="2500" i="1" dirty="0">
                <a:latin typeface="+mn-lt"/>
              </a:rPr>
              <a:t>]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i="1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O primeiro elemento de um </a:t>
            </a:r>
            <a:r>
              <a:rPr lang="pt-BR" sz="2500" dirty="0" err="1">
                <a:latin typeface="+mn-lt"/>
              </a:rPr>
              <a:t>array</a:t>
            </a:r>
            <a:r>
              <a:rPr lang="pt-BR" sz="2500" dirty="0">
                <a:latin typeface="+mn-lt"/>
              </a:rPr>
              <a:t> está no índice 0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>
                <a:latin typeface="+mn-lt"/>
              </a:rPr>
              <a:t>O índice deve ser um inteiro não negativo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O método </a:t>
            </a:r>
            <a:r>
              <a:rPr lang="pt-BR" sz="2500" b="1" i="1" dirty="0" err="1">
                <a:latin typeface="+mn-lt"/>
              </a:rPr>
              <a:t>length</a:t>
            </a:r>
            <a:r>
              <a:rPr lang="pt-BR" sz="2500" dirty="0">
                <a:latin typeface="+mn-lt"/>
              </a:rPr>
              <a:t> retorna o tamanho do </a:t>
            </a:r>
            <a:r>
              <a:rPr lang="pt-BR" sz="2500" dirty="0" err="1">
                <a:latin typeface="+mn-lt"/>
              </a:rPr>
              <a:t>array</a:t>
            </a:r>
            <a:endParaRPr lang="pt-BR" sz="2500" dirty="0">
              <a:latin typeface="+mn-lt"/>
            </a:endParaRPr>
          </a:p>
          <a:p>
            <a:pPr marL="360363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566CAC-66CF-0D76-1A6B-A958CC7F665A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9263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D712C262-D5EF-DCD3-B890-BB39B0AC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AC4FC399-3647-4689-B670-AA1CD52D4565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Como declarar um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231D8C10-D1BA-F0B7-FB23-54515AFBB1C5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 err="1">
                <a:latin typeface="+mn-lt"/>
              </a:rPr>
              <a:t>Array</a:t>
            </a:r>
            <a:r>
              <a:rPr lang="pt-BR" sz="2500" dirty="0">
                <a:latin typeface="+mn-lt"/>
              </a:rPr>
              <a:t> é um objeto: deve ser criado com a palavra-chave </a:t>
            </a:r>
            <a:r>
              <a:rPr lang="pt-BR" sz="2500" b="1" dirty="0">
                <a:latin typeface="+mn-lt"/>
              </a:rPr>
              <a:t>new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500" b="1" dirty="0">
                <a:highlight>
                  <a:srgbClr val="FFFF00"/>
                </a:highlight>
                <a:latin typeface="+mn-lt"/>
              </a:rPr>
              <a:t>int[] c = new int[12]; </a:t>
            </a:r>
            <a:r>
              <a:rPr lang="en-US" sz="2500" b="1" dirty="0">
                <a:latin typeface="+mn-lt"/>
              </a:rPr>
              <a:t>OU </a:t>
            </a:r>
            <a:r>
              <a:rPr lang="en-US" sz="2500" dirty="0">
                <a:highlight>
                  <a:srgbClr val="FFFF00"/>
                </a:highlight>
                <a:latin typeface="+mn-lt"/>
              </a:rPr>
              <a:t>int c[] = new int=[12];</a:t>
            </a:r>
            <a:r>
              <a:rPr lang="en-US" sz="2500" dirty="0">
                <a:latin typeface="+mn-lt"/>
              </a:rPr>
              <a:t> </a:t>
            </a:r>
            <a:r>
              <a:rPr lang="en-US" sz="2500" b="1" dirty="0">
                <a:latin typeface="+mn-lt"/>
              </a:rPr>
              <a:t>OU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en-US" sz="2500" b="1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500" dirty="0">
                <a:highlight>
                  <a:srgbClr val="FFFF00"/>
                </a:highlight>
                <a:latin typeface="+mn-lt"/>
              </a:rPr>
              <a:t>int[] c; </a:t>
            </a:r>
            <a:r>
              <a:rPr lang="en-US" sz="2500" dirty="0">
                <a:latin typeface="+mn-lt"/>
              </a:rPr>
              <a:t>// </a:t>
            </a:r>
            <a:r>
              <a:rPr lang="en-US" sz="2500" dirty="0" err="1">
                <a:latin typeface="+mn-lt"/>
              </a:rPr>
              <a:t>declaração</a:t>
            </a:r>
            <a:r>
              <a:rPr lang="en-US" sz="2500" dirty="0">
                <a:latin typeface="+mn-lt"/>
              </a:rPr>
              <a:t> da </a:t>
            </a:r>
            <a:r>
              <a:rPr lang="en-US" sz="2500" dirty="0" err="1">
                <a:latin typeface="+mn-lt"/>
              </a:rPr>
              <a:t>variável</a:t>
            </a:r>
            <a:endParaRPr lang="en-US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500" dirty="0">
                <a:highlight>
                  <a:srgbClr val="FFFF00"/>
                </a:highlight>
                <a:latin typeface="+mn-lt"/>
              </a:rPr>
              <a:t>c = new int[12]; </a:t>
            </a:r>
            <a:r>
              <a:rPr lang="en-US" sz="2500" dirty="0">
                <a:latin typeface="+mn-lt"/>
              </a:rPr>
              <a:t>// </a:t>
            </a:r>
            <a:r>
              <a:rPr lang="en-US" sz="2500" dirty="0" err="1">
                <a:latin typeface="+mn-lt"/>
              </a:rPr>
              <a:t>instanciação</a:t>
            </a:r>
            <a:r>
              <a:rPr lang="en-US" sz="2500" dirty="0">
                <a:latin typeface="+mn-lt"/>
              </a:rPr>
              <a:t> do array e </a:t>
            </a:r>
            <a:r>
              <a:rPr lang="en-US" sz="2500" dirty="0" err="1">
                <a:latin typeface="+mn-lt"/>
              </a:rPr>
              <a:t>atribuição</a:t>
            </a:r>
            <a:r>
              <a:rPr lang="en-US" sz="2500" dirty="0">
                <a:latin typeface="+mn-lt"/>
              </a:rPr>
              <a:t> à </a:t>
            </a:r>
            <a:r>
              <a:rPr lang="en-US" sz="2500" dirty="0" err="1">
                <a:latin typeface="+mn-lt"/>
              </a:rPr>
              <a:t>variável</a:t>
            </a:r>
            <a:endParaRPr lang="en-US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Quando um </a:t>
            </a:r>
            <a:r>
              <a:rPr lang="pt-BR" sz="2500" dirty="0" err="1">
                <a:latin typeface="+mn-lt"/>
              </a:rPr>
              <a:t>array</a:t>
            </a:r>
            <a:r>
              <a:rPr lang="pt-BR" sz="2500" dirty="0">
                <a:latin typeface="+mn-lt"/>
              </a:rPr>
              <a:t> é criado, cada um de seus elementos recebe um valor padrão: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dirty="0">
                <a:latin typeface="+mn-lt"/>
              </a:rPr>
              <a:t>zero</a:t>
            </a:r>
            <a:r>
              <a:rPr lang="pt-BR" sz="2500" dirty="0">
                <a:latin typeface="+mn-lt"/>
              </a:rPr>
              <a:t> para os elementos do tipo primitivo numérico,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dirty="0">
                <a:latin typeface="+mn-lt"/>
              </a:rPr>
              <a:t>false</a:t>
            </a:r>
            <a:r>
              <a:rPr lang="pt-BR" sz="2500" dirty="0">
                <a:latin typeface="+mn-lt"/>
              </a:rPr>
              <a:t> para elementos booleanos e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dirty="0" err="1">
                <a:latin typeface="+mn-lt"/>
              </a:rPr>
              <a:t>null</a:t>
            </a:r>
            <a:r>
              <a:rPr lang="pt-BR" sz="2500" dirty="0">
                <a:latin typeface="+mn-lt"/>
              </a:rPr>
              <a:t> para </a:t>
            </a:r>
            <a:r>
              <a:rPr lang="pt-BR" sz="2500" i="1" dirty="0" err="1">
                <a:latin typeface="+mn-lt"/>
              </a:rPr>
              <a:t>reference</a:t>
            </a:r>
            <a:r>
              <a:rPr lang="pt-BR" sz="2500" i="1" dirty="0">
                <a:latin typeface="+mn-lt"/>
              </a:rPr>
              <a:t> </a:t>
            </a:r>
            <a:r>
              <a:rPr lang="pt-BR" sz="2500" i="1" dirty="0" err="1">
                <a:latin typeface="+mn-lt"/>
              </a:rPr>
              <a:t>types</a:t>
            </a:r>
            <a:r>
              <a:rPr lang="pt-BR" sz="2500" dirty="0">
                <a:latin typeface="+mn-lt"/>
              </a:rPr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A71AF0-8AEE-D7EC-A83E-3A0159F656B6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45282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EED76A24-8B62-137E-3BA8-52D3E9BC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BCAE58C8-FA19-2639-E348-E714893AAEFA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Como declarar um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22D374A4-3918-8ED2-6879-0094363AD4D2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Um programa pode declarar </a:t>
            </a:r>
            <a:r>
              <a:rPr lang="pt-BR" sz="2500" dirty="0" err="1">
                <a:latin typeface="+mn-lt"/>
              </a:rPr>
              <a:t>arrays</a:t>
            </a:r>
            <a:r>
              <a:rPr lang="pt-BR" sz="2500" dirty="0">
                <a:latin typeface="+mn-lt"/>
              </a:rPr>
              <a:t> de qualquer tipo</a:t>
            </a:r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>
                <a:latin typeface="+mn-lt"/>
              </a:rPr>
              <a:t>os tipos dos elementos do </a:t>
            </a:r>
            <a:r>
              <a:rPr lang="pt-BR" sz="2000" dirty="0" err="1">
                <a:latin typeface="+mn-lt"/>
              </a:rPr>
              <a:t>array</a:t>
            </a:r>
            <a:r>
              <a:rPr lang="pt-BR" sz="2000" dirty="0">
                <a:latin typeface="+mn-lt"/>
              </a:rPr>
              <a:t>, seguem o tipo </a:t>
            </a:r>
            <a:r>
              <a:rPr lang="pt-BR" sz="2000" dirty="0" err="1">
                <a:latin typeface="+mn-lt"/>
              </a:rPr>
              <a:t>declarao</a:t>
            </a:r>
            <a:r>
              <a:rPr lang="pt-BR" sz="2000" dirty="0">
                <a:latin typeface="+mn-lt"/>
              </a:rPr>
              <a:t> para o </a:t>
            </a:r>
            <a:r>
              <a:rPr lang="pt-BR" sz="2000" dirty="0" err="1">
                <a:latin typeface="+mn-lt"/>
              </a:rPr>
              <a:t>array</a:t>
            </a:r>
            <a:endParaRPr lang="pt-BR" sz="2000" dirty="0">
              <a:latin typeface="+mn-lt"/>
            </a:endParaRPr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1079500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 err="1">
                <a:highlight>
                  <a:srgbClr val="FFFF00"/>
                </a:highlight>
                <a:latin typeface="+mn-lt"/>
              </a:rPr>
              <a:t>String</a:t>
            </a:r>
            <a:r>
              <a:rPr lang="pt-BR" sz="2000" dirty="0">
                <a:highlight>
                  <a:srgbClr val="FFFF00"/>
                </a:highlight>
                <a:latin typeface="+mn-lt"/>
              </a:rPr>
              <a:t>[] </a:t>
            </a:r>
            <a:r>
              <a:rPr lang="pt-BR" sz="2000" dirty="0" err="1">
                <a:highlight>
                  <a:srgbClr val="FFFF00"/>
                </a:highlight>
                <a:latin typeface="+mn-lt"/>
              </a:rPr>
              <a:t>meuArrayDeString</a:t>
            </a:r>
            <a:r>
              <a:rPr lang="pt-BR" sz="2000" dirty="0">
                <a:highlight>
                  <a:srgbClr val="FFFF00"/>
                </a:highlight>
                <a:latin typeface="+mn-lt"/>
              </a:rPr>
              <a:t> = new </a:t>
            </a:r>
            <a:r>
              <a:rPr lang="pt-BR" sz="2000" dirty="0" err="1">
                <a:highlight>
                  <a:srgbClr val="FFFF00"/>
                </a:highlight>
                <a:latin typeface="+mn-lt"/>
              </a:rPr>
              <a:t>String</a:t>
            </a:r>
            <a:r>
              <a:rPr lang="pt-BR" sz="2000" dirty="0">
                <a:highlight>
                  <a:srgbClr val="FFFF00"/>
                </a:highlight>
                <a:latin typeface="+mn-lt"/>
              </a:rPr>
              <a:t>[100];</a:t>
            </a:r>
          </a:p>
          <a:p>
            <a:pPr marL="1079500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1438275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>
                <a:latin typeface="+mn-lt"/>
              </a:rPr>
              <a:t>Todos os 100 elementos do </a:t>
            </a:r>
            <a:r>
              <a:rPr lang="pt-BR" sz="2000" dirty="0" err="1">
                <a:latin typeface="+mn-lt"/>
              </a:rPr>
              <a:t>array</a:t>
            </a:r>
            <a:r>
              <a:rPr lang="pt-BR" sz="2000" dirty="0">
                <a:latin typeface="+mn-lt"/>
              </a:rPr>
              <a:t> serão do tipo </a:t>
            </a:r>
            <a:r>
              <a:rPr lang="pt-BR" sz="2000" dirty="0" err="1">
                <a:latin typeface="+mn-lt"/>
              </a:rPr>
              <a:t>String</a:t>
            </a:r>
            <a:endParaRPr lang="pt-BR" sz="2000" dirty="0">
              <a:latin typeface="+mn-lt"/>
            </a:endParaRPr>
          </a:p>
          <a:p>
            <a:pPr marL="1438275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 err="1">
                <a:highlight>
                  <a:srgbClr val="FFFF00"/>
                </a:highlight>
                <a:latin typeface="+mn-lt"/>
              </a:rPr>
              <a:t>meyArrayDeString</a:t>
            </a:r>
            <a:r>
              <a:rPr lang="pt-BR" sz="2000" dirty="0">
                <a:highlight>
                  <a:srgbClr val="FFFF00"/>
                </a:highlight>
                <a:latin typeface="+mn-lt"/>
              </a:rPr>
              <a:t>[10]</a:t>
            </a:r>
            <a:r>
              <a:rPr lang="pt-BR" sz="2000" dirty="0">
                <a:latin typeface="+mn-lt"/>
              </a:rPr>
              <a:t>: valor do elemento no índice 10</a:t>
            </a:r>
          </a:p>
          <a:p>
            <a:pPr marL="1438275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b="1" dirty="0">
                <a:latin typeface="+mn-lt"/>
              </a:rPr>
              <a:t>Nunca se esqueça que o </a:t>
            </a:r>
            <a:r>
              <a:rPr lang="pt-BR" sz="2000" b="1" dirty="0" err="1">
                <a:latin typeface="+mn-lt"/>
              </a:rPr>
              <a:t>array</a:t>
            </a:r>
            <a:r>
              <a:rPr lang="pt-BR" sz="2000" b="1" dirty="0">
                <a:latin typeface="+mn-lt"/>
              </a:rPr>
              <a:t> começa do índice zero</a:t>
            </a:r>
          </a:p>
          <a:p>
            <a:pPr marL="1438275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>
                <a:latin typeface="+mn-lt"/>
              </a:rPr>
              <a:t>Tentar acessar um elemento fora dos limites do </a:t>
            </a:r>
            <a:r>
              <a:rPr lang="pt-BR" sz="2000" dirty="0" err="1">
                <a:latin typeface="+mn-lt"/>
              </a:rPr>
              <a:t>array</a:t>
            </a:r>
            <a:r>
              <a:rPr lang="pt-BR" sz="2000" dirty="0">
                <a:latin typeface="+mn-lt"/>
              </a:rPr>
              <a:t> dispara </a:t>
            </a:r>
            <a:r>
              <a:rPr lang="pt-BR" sz="2000" dirty="0" err="1">
                <a:highlight>
                  <a:srgbClr val="FF0000"/>
                </a:highlight>
              </a:rPr>
              <a:t>ArrayIndexOutOfBoundsException</a:t>
            </a:r>
            <a:endParaRPr lang="pt-BR" sz="2000" b="1" dirty="0">
              <a:highlight>
                <a:srgbClr val="FF0000"/>
              </a:highlight>
              <a:latin typeface="+mn-lt"/>
            </a:endParaRPr>
          </a:p>
          <a:p>
            <a:pPr marL="1438275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/>
              <a:t>Inicialização de um </a:t>
            </a:r>
            <a:r>
              <a:rPr lang="pt-BR" sz="2000" dirty="0" err="1"/>
              <a:t>array</a:t>
            </a:r>
            <a:r>
              <a:rPr lang="pt-BR" sz="2000" dirty="0"/>
              <a:t>: </a:t>
            </a:r>
            <a:r>
              <a:rPr lang="pt-BR" sz="2000" dirty="0" err="1">
                <a:highlight>
                  <a:srgbClr val="FFFF00"/>
                </a:highlight>
              </a:rPr>
              <a:t>int</a:t>
            </a:r>
            <a:r>
              <a:rPr lang="pt-BR" sz="2000" dirty="0">
                <a:highlight>
                  <a:srgbClr val="FFFF00"/>
                </a:highlight>
              </a:rPr>
              <a:t>[] n = {10, 20, 30, 40, 50}; </a:t>
            </a: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b="1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48A817-03C2-470D-7A27-4F97EAA94693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716851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59E3CA08-0A7E-283C-52BB-6E5888E9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A5CAB98A-260A-9528-4112-317054D24729}"/>
              </a:ext>
            </a:extLst>
          </p:cNvPr>
          <p:cNvSpPr txBox="1"/>
          <p:nvPr/>
        </p:nvSpPr>
        <p:spPr>
          <a:xfrm>
            <a:off x="647271" y="323850"/>
            <a:ext cx="997620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É meme! Em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java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 começa do índice 0</a:t>
            </a:r>
          </a:p>
        </p:txBody>
      </p:sp>
      <p:pic>
        <p:nvPicPr>
          <p:cNvPr id="5" name="Imagem 4" descr="Tela de celular com foto de homem de terno e gravata&#10;&#10;O conteúdo gerado por IA pode estar incorreto.">
            <a:extLst>
              <a:ext uri="{FF2B5EF4-FFF2-40B4-BE49-F238E27FC236}">
                <a16:creationId xmlns:a16="http://schemas.microsoft.com/office/drawing/2014/main" id="{3074B915-387E-0B18-1887-B57A8CAAA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287" y="1790894"/>
            <a:ext cx="4425488" cy="462018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CE5F9EF-33CB-233C-FCB2-8DA30A232B04}"/>
              </a:ext>
            </a:extLst>
          </p:cNvPr>
          <p:cNvSpPr txBox="1"/>
          <p:nvPr/>
        </p:nvSpPr>
        <p:spPr>
          <a:xfrm>
            <a:off x="4271480" y="6470150"/>
            <a:ext cx="4128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https://www.reddit.com/r/ProgrammerHumor/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487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AB736F1C-9AA8-FFF7-CF40-ED216209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C1D2D376-14B2-EB2F-0342-D6374C79E75E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Tratamento de exceção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70E9491-6584-1A78-B385-973583718B98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i="1" dirty="0" err="1">
                <a:latin typeface="+mn-lt"/>
              </a:rPr>
              <a:t>Exception</a:t>
            </a:r>
            <a:r>
              <a:rPr lang="pt-BR" sz="2500" dirty="0">
                <a:latin typeface="+mn-lt"/>
              </a:rPr>
              <a:t>: indica um problema (comportamento indesejado) durante a execução de um programa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i="1" dirty="0" err="1">
                <a:latin typeface="+mn-lt"/>
              </a:rPr>
              <a:t>Exception</a:t>
            </a:r>
            <a:r>
              <a:rPr lang="pt-BR" sz="2500" b="1" i="1" dirty="0">
                <a:latin typeface="+mn-lt"/>
              </a:rPr>
              <a:t> </a:t>
            </a:r>
            <a:r>
              <a:rPr lang="pt-BR" sz="2500" b="1" i="1" dirty="0" err="1">
                <a:latin typeface="+mn-lt"/>
              </a:rPr>
              <a:t>handling</a:t>
            </a:r>
            <a:r>
              <a:rPr lang="pt-BR" sz="2500" b="1" i="1" dirty="0">
                <a:latin typeface="+mn-lt"/>
              </a:rPr>
              <a:t> </a:t>
            </a:r>
            <a:r>
              <a:rPr lang="pt-BR" sz="2500" dirty="0">
                <a:latin typeface="+mn-lt"/>
              </a:rPr>
              <a:t>(tratamento de exceção): ajuda a criar programa tolerantes a falhas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Quando ocorre um problema durante a execução de um programa, a JVM ou um método dispara (</a:t>
            </a:r>
            <a:r>
              <a:rPr lang="pt-BR" sz="2500" b="1" dirty="0" err="1">
                <a:latin typeface="+mn-lt"/>
              </a:rPr>
              <a:t>throws</a:t>
            </a:r>
            <a:r>
              <a:rPr lang="pt-BR" sz="2500" dirty="0">
                <a:latin typeface="+mn-lt"/>
              </a:rPr>
              <a:t>) uma exceção	</a:t>
            </a: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0296AE-2FDE-A327-9EE9-26177119CB35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56786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9B99C9FF-485F-1450-4ABE-82C88EE0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37152B82-FF20-00D5-5616-6913E7BCE20B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Tratamento de exceção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4D7D1BBB-F48C-3AEB-7363-BD9D62E5626A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i="1" dirty="0" err="1">
                <a:latin typeface="+mn-lt"/>
              </a:rPr>
              <a:t>Exception</a:t>
            </a:r>
            <a:r>
              <a:rPr lang="pt-BR" sz="2500" dirty="0">
                <a:latin typeface="+mn-lt"/>
              </a:rPr>
              <a:t>: indica um problema (comportamento indesejado) durante a execução de um programa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i="1" dirty="0" err="1">
                <a:latin typeface="+mn-lt"/>
              </a:rPr>
              <a:t>Exception</a:t>
            </a:r>
            <a:r>
              <a:rPr lang="pt-BR" sz="2500" b="1" i="1" dirty="0">
                <a:latin typeface="+mn-lt"/>
              </a:rPr>
              <a:t> </a:t>
            </a:r>
            <a:r>
              <a:rPr lang="pt-BR" sz="2500" b="1" i="1" dirty="0" err="1">
                <a:latin typeface="+mn-lt"/>
              </a:rPr>
              <a:t>handling</a:t>
            </a:r>
            <a:r>
              <a:rPr lang="pt-BR" sz="2500" b="1" i="1" dirty="0">
                <a:latin typeface="+mn-lt"/>
              </a:rPr>
              <a:t> </a:t>
            </a:r>
            <a:r>
              <a:rPr lang="pt-BR" sz="2500" dirty="0">
                <a:latin typeface="+mn-lt"/>
              </a:rPr>
              <a:t>(tratamento de exceção): ajuda a criar programa tolerantes a falhas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Quando ocorre um problema durante a execução de um programa, a JVM ou um método dispara (</a:t>
            </a:r>
            <a:r>
              <a:rPr lang="pt-BR" sz="2500" b="1" dirty="0" err="1">
                <a:latin typeface="+mn-lt"/>
              </a:rPr>
              <a:t>throws</a:t>
            </a:r>
            <a:r>
              <a:rPr lang="pt-BR" sz="2500" dirty="0">
                <a:latin typeface="+mn-lt"/>
              </a:rPr>
              <a:t>) uma exceção	</a:t>
            </a: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E30083-DC99-2573-432B-449698CB4E33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60022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425BB31D-CB36-87C0-3E57-C2C96A21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A8723586-E296-DFC2-C07B-2F852E26AC57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Tratamento de exceção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2A2BF2AC-6F70-B917-34BF-F54C694B4484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dirty="0" err="1">
                <a:latin typeface="+mn-lt"/>
              </a:rPr>
              <a:t>try</a:t>
            </a:r>
            <a:r>
              <a:rPr lang="pt-BR" sz="2500" b="1" dirty="0">
                <a:latin typeface="+mn-lt"/>
              </a:rPr>
              <a:t> </a:t>
            </a:r>
            <a:r>
              <a:rPr lang="pt-BR" sz="2500" b="1" dirty="0" err="1">
                <a:latin typeface="+mn-lt"/>
              </a:rPr>
              <a:t>block</a:t>
            </a:r>
            <a:r>
              <a:rPr lang="pt-BR" sz="2500" dirty="0">
                <a:latin typeface="+mn-lt"/>
              </a:rPr>
              <a:t>: contém código que pode disparar uma exceção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b="1" i="1" dirty="0">
                <a:latin typeface="+mn-lt"/>
              </a:rPr>
              <a:t>catch </a:t>
            </a:r>
            <a:r>
              <a:rPr lang="pt-BR" sz="2500" b="1" i="1" dirty="0" err="1">
                <a:latin typeface="+mn-lt"/>
              </a:rPr>
              <a:t>block</a:t>
            </a:r>
            <a:r>
              <a:rPr lang="pt-BR" sz="2500" dirty="0">
                <a:latin typeface="+mn-lt"/>
              </a:rPr>
              <a:t>: contém código que trata a exceção se ela ocorrer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EE24E6-381E-EA83-B455-F65CCF47C525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670DDE-C292-77CB-BBBB-4AC248197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105" y="3159892"/>
            <a:ext cx="9924637" cy="271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6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0A59C121-89CC-980D-1160-AE587CD3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1B5CB317-82E7-BF84-07C1-7EA38936DBEC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i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Enhanced for </a:t>
            </a:r>
            <a:r>
              <a:rPr lang="pt-BR" sz="4000" b="1" i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statement</a:t>
            </a:r>
            <a:endParaRPr lang="pt-BR" sz="4000" b="1" i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F7979651-37A9-92CA-88BF-E7E0722AFB71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Permite iterar por um </a:t>
            </a:r>
            <a:r>
              <a:rPr lang="pt-BR" sz="2500" dirty="0" err="1">
                <a:latin typeface="+mn-lt"/>
              </a:rPr>
              <a:t>array</a:t>
            </a:r>
            <a:r>
              <a:rPr lang="pt-BR" sz="2500" dirty="0">
                <a:latin typeface="+mn-lt"/>
              </a:rPr>
              <a:t> sem usar um contador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Evita tentativa de acesso a elemento inexistente (</a:t>
            </a:r>
            <a:r>
              <a:rPr lang="pt-BR" sz="2500" i="1" dirty="0">
                <a:latin typeface="+mn-lt"/>
              </a:rPr>
              <a:t>out </a:t>
            </a:r>
            <a:r>
              <a:rPr lang="pt-BR" sz="2500" i="1" dirty="0" err="1">
                <a:latin typeface="+mn-lt"/>
              </a:rPr>
              <a:t>of</a:t>
            </a:r>
            <a:r>
              <a:rPr lang="pt-BR" sz="2500" i="1" dirty="0">
                <a:latin typeface="+mn-lt"/>
              </a:rPr>
              <a:t> </a:t>
            </a:r>
            <a:r>
              <a:rPr lang="pt-BR" sz="2500" i="1" dirty="0" err="1">
                <a:latin typeface="+mn-lt"/>
              </a:rPr>
              <a:t>bounds</a:t>
            </a:r>
            <a:r>
              <a:rPr lang="pt-BR" sz="2500" dirty="0">
                <a:latin typeface="+mn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800" dirty="0"/>
              <a:t>Só pode ser usada para obter elementos de array, ou seja, não pode ser usada para modificar elementos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PT" sz="2800" dirty="0"/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800" dirty="0">
                <a:latin typeface="+mn-lt"/>
              </a:rPr>
              <a:t>Não é possível acessar ou manipular o índice do elemento</a:t>
            </a: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FFFB2AC-C031-3EAB-BD3E-D0D74D950E5F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470730-9C74-32E7-2BE0-E0D3628AB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160" y="2820171"/>
            <a:ext cx="5351679" cy="121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0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FDF12CF7-49AC-B1E0-31FB-1DA42F49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8DFA119C-3C18-BC44-115E-C192E5448FA1}"/>
              </a:ext>
            </a:extLst>
          </p:cNvPr>
          <p:cNvSpPr txBox="1"/>
          <p:nvPr/>
        </p:nvSpPr>
        <p:spPr>
          <a:xfrm>
            <a:off x="1951437" y="323850"/>
            <a:ext cx="880560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Passando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arrays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 como parâmetros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317FBD5C-A630-EAD1-1CFE-2EA93FCEA6E5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É possível passar/receber um </a:t>
            </a:r>
            <a:r>
              <a:rPr lang="pt-BR" sz="2500" dirty="0" err="1">
                <a:latin typeface="+mn-lt"/>
              </a:rPr>
              <a:t>array</a:t>
            </a:r>
            <a:r>
              <a:rPr lang="pt-BR" sz="2500" dirty="0">
                <a:latin typeface="+mn-lt"/>
              </a:rPr>
              <a:t> como parâmetro de um método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 err="1">
                <a:highlight>
                  <a:srgbClr val="FFFF00"/>
                </a:highlight>
              </a:rPr>
              <a:t>int</a:t>
            </a:r>
            <a:r>
              <a:rPr lang="pt-BR" sz="2000" dirty="0">
                <a:highlight>
                  <a:srgbClr val="FFFF00"/>
                </a:highlight>
              </a:rPr>
              <a:t>[] </a:t>
            </a:r>
            <a:r>
              <a:rPr lang="pt-BR" sz="2000" dirty="0" err="1">
                <a:highlight>
                  <a:srgbClr val="FFFF00"/>
                </a:highlight>
              </a:rPr>
              <a:t>array</a:t>
            </a:r>
            <a:r>
              <a:rPr lang="pt-BR" sz="2000" dirty="0">
                <a:highlight>
                  <a:srgbClr val="FFFF00"/>
                </a:highlight>
              </a:rPr>
              <a:t> = {1, 2};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 err="1">
                <a:highlight>
                  <a:srgbClr val="FFFF00"/>
                </a:highlight>
              </a:rPr>
              <a:t>modifyArray</a:t>
            </a:r>
            <a:r>
              <a:rPr lang="pt-BR" sz="2000" dirty="0">
                <a:highlight>
                  <a:srgbClr val="FFFF00"/>
                </a:highlight>
              </a:rPr>
              <a:t>(</a:t>
            </a:r>
            <a:r>
              <a:rPr lang="pt-BR" sz="2000" dirty="0" err="1">
                <a:highlight>
                  <a:srgbClr val="FFFF00"/>
                </a:highlight>
              </a:rPr>
              <a:t>array</a:t>
            </a:r>
            <a:r>
              <a:rPr lang="pt-BR" sz="2000" dirty="0">
                <a:highlight>
                  <a:srgbClr val="FFFF00"/>
                </a:highlight>
              </a:rPr>
              <a:t>);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en-US" sz="2000" dirty="0">
              <a:highlight>
                <a:srgbClr val="FFFF00"/>
              </a:highlight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000" dirty="0">
                <a:highlight>
                  <a:srgbClr val="FFFF00"/>
                </a:highlight>
              </a:rPr>
              <a:t>public static void </a:t>
            </a:r>
            <a:r>
              <a:rPr lang="en-US" sz="2000" dirty="0" err="1">
                <a:highlight>
                  <a:srgbClr val="FFFF00"/>
                </a:highlight>
              </a:rPr>
              <a:t>modifyArray</a:t>
            </a:r>
            <a:r>
              <a:rPr lang="en-US" sz="2000" dirty="0">
                <a:highlight>
                  <a:srgbClr val="FFFF00"/>
                </a:highlight>
              </a:rPr>
              <a:t>(int[] array)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A44A04-7A83-D7F3-E297-B9C1B288FE79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660701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AC1A5C92-171B-5835-92D2-0F82FA6E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2503ACE7-3D1D-FCC1-AA04-CD19E1E56C44}"/>
              </a:ext>
            </a:extLst>
          </p:cNvPr>
          <p:cNvSpPr txBox="1"/>
          <p:nvPr/>
        </p:nvSpPr>
        <p:spPr>
          <a:xfrm>
            <a:off x="1951437" y="323850"/>
            <a:ext cx="880560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Passando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arrays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 como parâmetros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CD16CAB8-3A4C-83C7-207C-C24295F804DB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/>
              <a:t>Tipo de passagem de parâmetro</a:t>
            </a: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/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 err="1"/>
              <a:t>Array</a:t>
            </a:r>
            <a:endParaRPr lang="pt-BR" sz="2500" dirty="0"/>
          </a:p>
          <a:p>
            <a:pPr marL="1079500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/>
              <a:t>o método chamado recebe uma referência para o </a:t>
            </a:r>
            <a:r>
              <a:rPr lang="pt-BR" sz="2000" dirty="0" err="1"/>
              <a:t>array</a:t>
            </a:r>
            <a:r>
              <a:rPr lang="pt-BR" sz="2000" dirty="0"/>
              <a:t> original</a:t>
            </a:r>
          </a:p>
          <a:p>
            <a:pPr marL="1079500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dirty="0"/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/>
              <a:t>Elemento individual de um </a:t>
            </a:r>
            <a:r>
              <a:rPr lang="pt-BR" sz="2500" dirty="0" err="1"/>
              <a:t>array</a:t>
            </a:r>
            <a:r>
              <a:rPr lang="pt-BR" sz="2500" dirty="0"/>
              <a:t> de </a:t>
            </a:r>
            <a:r>
              <a:rPr lang="pt-BR" sz="2500" i="1" dirty="0" err="1"/>
              <a:t>reference</a:t>
            </a:r>
            <a:r>
              <a:rPr lang="pt-BR" sz="2500" i="1" dirty="0"/>
              <a:t> </a:t>
            </a:r>
            <a:r>
              <a:rPr lang="pt-BR" sz="2500" i="1" dirty="0" err="1"/>
              <a:t>type</a:t>
            </a:r>
            <a:endParaRPr lang="pt-BR" sz="2500" i="1" dirty="0"/>
          </a:p>
          <a:p>
            <a:pPr marL="1079500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/>
              <a:t>o método chamado recebe uma cópia da referência para o </a:t>
            </a:r>
            <a:r>
              <a:rPr lang="pt-BR" sz="2000" dirty="0" err="1"/>
              <a:t>array</a:t>
            </a:r>
            <a:r>
              <a:rPr lang="pt-BR" sz="2000" dirty="0"/>
              <a:t> original</a:t>
            </a:r>
          </a:p>
          <a:p>
            <a:pPr marL="1079500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dirty="0"/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/>
              <a:t>Elemento individual de um </a:t>
            </a:r>
            <a:r>
              <a:rPr lang="pt-BR" sz="2500" dirty="0" err="1"/>
              <a:t>array</a:t>
            </a:r>
            <a:r>
              <a:rPr lang="pt-BR" sz="2500" dirty="0"/>
              <a:t> de tipo primitivo</a:t>
            </a:r>
          </a:p>
          <a:p>
            <a:pPr marL="1079500" lvl="1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/>
              <a:t>o método chamado recebe uma cópia do valor</a:t>
            </a:r>
            <a:endParaRPr lang="pt-BR" sz="2000" b="1" dirty="0"/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8B7BF6-9966-51E8-79C9-9953118B4C68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30242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F1E5611F-F02D-E78B-32E9-AF021A574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6B417861-683E-DE88-9833-D7EA7F3785D2}"/>
              </a:ext>
            </a:extLst>
          </p:cNvPr>
          <p:cNvSpPr txBox="1"/>
          <p:nvPr/>
        </p:nvSpPr>
        <p:spPr>
          <a:xfrm>
            <a:off x="1951437" y="323850"/>
            <a:ext cx="880560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Passando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arrays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 como parâmetros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BB0FEF0-2D7A-95E1-17F8-420F1CAA4421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/>
              <a:t>Tipo de passagem de parâmetro: </a:t>
            </a:r>
            <a:r>
              <a:rPr lang="pt-BR" sz="2500" b="1" dirty="0"/>
              <a:t>por valor x por referência</a:t>
            </a:r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/>
              <a:t>Em </a:t>
            </a:r>
            <a:r>
              <a:rPr lang="pt-BR" sz="2000" dirty="0" err="1"/>
              <a:t>java</a:t>
            </a:r>
            <a:r>
              <a:rPr lang="pt-BR" sz="2000" dirty="0"/>
              <a:t> todos parâmetros são passados por valor</a:t>
            </a:r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dirty="0"/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b="1" dirty="0"/>
              <a:t>por valor: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Uma cópia do valor da variável é passada para o método chamado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O método chamado trabalha exclusivamente com a cópia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Alterações na cópia do método chamado não afetam o valor da variável original no chamador.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PT" sz="2000" dirty="0"/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b="1" dirty="0"/>
              <a:t>por referência: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o método chamado pode acessar o valor do variável no chamador diretamente e modificar esses dadosmelhora o desempenho ao eliminar a necessidade de copiar possivelmente grandes quantidades de dados.</a:t>
            </a:r>
            <a:endParaRPr lang="en-US" sz="20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661CA0-260E-70D9-AF33-AFD317462A0E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77971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1E37C83B-B1D3-3F8F-C482-BC809A17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CE17830B-5860-C680-62FE-0C1C3EE5D519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Arrays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 multidimensionais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4A49CE8A-1070-BF42-1F5D-402C6D742A81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Tem duas ou mais dimensões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Mantido como </a:t>
            </a:r>
            <a:r>
              <a:rPr lang="pt-BR" sz="2500" dirty="0" err="1">
                <a:latin typeface="+mn-lt"/>
              </a:rPr>
              <a:t>arrays</a:t>
            </a:r>
            <a:r>
              <a:rPr lang="pt-BR" sz="2500" dirty="0">
                <a:latin typeface="+mn-lt"/>
              </a:rPr>
              <a:t> de </a:t>
            </a:r>
            <a:r>
              <a:rPr lang="pt-BR" sz="2500" dirty="0" err="1">
                <a:latin typeface="+mn-lt"/>
              </a:rPr>
              <a:t>arrays</a:t>
            </a:r>
            <a:r>
              <a:rPr lang="pt-BR" sz="2500" dirty="0">
                <a:latin typeface="+mn-lt"/>
              </a:rPr>
              <a:t> de uma dimensão</a:t>
            </a:r>
          </a:p>
          <a:p>
            <a:pPr marL="719138" lvl="1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 err="1">
                <a:latin typeface="+mn-lt"/>
              </a:rPr>
              <a:t>Array</a:t>
            </a:r>
            <a:r>
              <a:rPr lang="pt-BR" sz="2000" dirty="0">
                <a:latin typeface="+mn-lt"/>
              </a:rPr>
              <a:t> com 2 dimensões: representa uma tabela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 err="1">
                <a:highlight>
                  <a:srgbClr val="FFFF00"/>
                </a:highlight>
                <a:latin typeface="+mn-lt"/>
              </a:rPr>
              <a:t>int</a:t>
            </a:r>
            <a:r>
              <a:rPr lang="pt-BR" sz="2000" dirty="0">
                <a:highlight>
                  <a:srgbClr val="FFFF00"/>
                </a:highlight>
                <a:latin typeface="+mn-lt"/>
              </a:rPr>
              <a:t>[][] tabela = { {1, 2}, {3, 4};</a:t>
            </a:r>
          </a:p>
          <a:p>
            <a:pPr marL="1438275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000" dirty="0">
                <a:highlight>
                  <a:srgbClr val="FFFF00"/>
                </a:highlight>
              </a:rPr>
              <a:t>tabela[linha][coluna];</a:t>
            </a:r>
          </a:p>
          <a:p>
            <a:pPr marL="1798638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1500" dirty="0">
                <a:latin typeface="+mn-lt"/>
              </a:rPr>
              <a:t>tabela[0][0] = 1</a:t>
            </a:r>
          </a:p>
          <a:p>
            <a:pPr marL="1798638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1500" dirty="0"/>
              <a:t>tabela[0][1] = 2</a:t>
            </a:r>
          </a:p>
          <a:p>
            <a:pPr marL="1798638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1500" dirty="0"/>
              <a:t>tabela[1][0] = 3</a:t>
            </a:r>
          </a:p>
          <a:p>
            <a:pPr marL="1798638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1500" dirty="0"/>
              <a:t>tabela[1][1] = 4</a:t>
            </a:r>
          </a:p>
          <a:p>
            <a:pPr marL="1798638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1500" dirty="0"/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000" dirty="0">
                <a:highlight>
                  <a:srgbClr val="FFFF00"/>
                </a:highlight>
              </a:rPr>
              <a:t>int[][] b = new int[3][4]</a:t>
            </a:r>
            <a:r>
              <a:rPr lang="en-US" sz="2000" dirty="0"/>
              <a:t>; // array 3 x 4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en-US" sz="2000" dirty="0"/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000" dirty="0">
                <a:highlight>
                  <a:srgbClr val="FFFF00"/>
                </a:highlight>
              </a:rPr>
              <a:t>int[][] b = new int[2][]; // create 2 rows 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000" dirty="0">
                <a:highlight>
                  <a:srgbClr val="FFFF00"/>
                </a:highlight>
              </a:rPr>
              <a:t>b[0] = new int[5]; // create 5 columns for row 0 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en-US" sz="2000" dirty="0">
                <a:highlight>
                  <a:srgbClr val="FFFF00"/>
                </a:highlight>
              </a:rPr>
              <a:t>b[1] = new int[3]; // create 3 columns for row 1 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en-US" sz="2500" dirty="0"/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highlight>
                <a:srgbClr val="FFFF00"/>
              </a:highlight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EA4028-FFB7-88E9-FE09-AFFAC6CF924F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06908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D9C9A13E-1EB1-BA79-A736-B5A92DC2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D8179F88-26E4-4431-1C48-599E16655BE2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Arrays</a:t>
            </a: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 multidimensionais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8CEA17-FA3D-C44D-514F-9BE5CF9D9745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C2185A-16DA-B4A3-7BD0-58EEB7E25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150" y="2095314"/>
            <a:ext cx="6258798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20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50E69D20-C1C7-3C58-DFEF-9FF9579B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B8A37A32-7C4E-1EA1-6AB7-3F170086CADD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Métodos com parâmetros variáveis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54140592-4CB0-95A1-30F6-7A037B836805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800" i="1" dirty="0" err="1"/>
              <a:t>variable-length</a:t>
            </a:r>
            <a:r>
              <a:rPr lang="pt-BR" sz="2800" i="1" dirty="0"/>
              <a:t> </a:t>
            </a:r>
            <a:r>
              <a:rPr lang="pt-BR" sz="2800" i="1" dirty="0" err="1"/>
              <a:t>argument</a:t>
            </a:r>
            <a:r>
              <a:rPr lang="pt-BR" sz="2800" i="1" dirty="0"/>
              <a:t> </a:t>
            </a:r>
            <a:r>
              <a:rPr lang="pt-BR" sz="2800" i="1" dirty="0" err="1"/>
              <a:t>lists</a:t>
            </a:r>
            <a:r>
              <a:rPr lang="pt-BR" sz="2800" i="1" dirty="0"/>
              <a:t>: </a:t>
            </a:r>
            <a:r>
              <a:rPr lang="pt-BR" sz="2800" b="1" i="1" dirty="0" err="1"/>
              <a:t>elipsis</a:t>
            </a:r>
            <a:r>
              <a:rPr lang="pt-BR" sz="2800" b="1" i="1" dirty="0"/>
              <a:t>(...)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800" b="1" i="1" dirty="0"/>
          </a:p>
          <a:p>
            <a:pPr marL="719138" lvl="3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o método recebe um número variável de argumentos daquele tipo específico</a:t>
            </a:r>
          </a:p>
          <a:p>
            <a:pPr marL="719138" lvl="3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b="1" i="1" dirty="0"/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pode ocorrer apenas uma vez em uma lista de parâmetros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PT" sz="2000" dirty="0"/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as reticências, juntamente com seu tipo e o nome do parâmetro, devem ser colocadas no final da lista de parâmetros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PT" sz="2000" dirty="0"/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PT" sz="2000" dirty="0"/>
              <a:t>alternativa mais consiva ao overloading e passar um array como parâmetro</a:t>
            </a:r>
          </a:p>
          <a:p>
            <a:pPr marL="360363">
              <a:tabLst>
                <a:tab pos="542925" algn="l"/>
              </a:tabLst>
            </a:pPr>
            <a:endParaRPr lang="pt-BR" sz="2000" dirty="0"/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DC13E4-A018-C791-3379-A301A3D42FD5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558570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9090967E-F7DF-0440-4F80-B3F8ED33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C1C88A66-4762-90EC-8F82-35A2228CB4D9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Parâmetros na linha de comando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6086F3D4-40F9-2AC7-2AAB-4F14C0BDFAC2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Já se perguntou o significa o </a:t>
            </a:r>
            <a:r>
              <a:rPr lang="pt-BR" sz="2500" dirty="0" err="1">
                <a:highlight>
                  <a:srgbClr val="FFFF00"/>
                </a:highlight>
                <a:latin typeface="+mn-lt"/>
              </a:rPr>
              <a:t>String</a:t>
            </a:r>
            <a:r>
              <a:rPr lang="pt-BR" sz="2500" dirty="0">
                <a:highlight>
                  <a:srgbClr val="FFFF00"/>
                </a:highlight>
                <a:latin typeface="+mn-lt"/>
              </a:rPr>
              <a:t>[] </a:t>
            </a:r>
            <a:r>
              <a:rPr lang="pt-BR" sz="2500" dirty="0" err="1">
                <a:highlight>
                  <a:srgbClr val="FFFF00"/>
                </a:highlight>
                <a:latin typeface="+mn-lt"/>
              </a:rPr>
              <a:t>args</a:t>
            </a:r>
            <a:r>
              <a:rPr lang="pt-BR" sz="2500" dirty="0">
                <a:latin typeface="+mn-lt"/>
              </a:rPr>
              <a:t> como parâmetro do método </a:t>
            </a:r>
            <a:r>
              <a:rPr lang="pt-BR" sz="2500" dirty="0" err="1">
                <a:latin typeface="+mn-lt"/>
              </a:rPr>
              <a:t>main</a:t>
            </a:r>
            <a:endParaRPr lang="pt-BR" sz="25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it-IT" sz="2000" b="1" dirty="0"/>
              <a:t>java InitArray 5 0 4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it-IT" sz="2000" dirty="0">
                <a:latin typeface="+mn-lt"/>
              </a:rPr>
              <a:t>args[0] = 5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it-IT" sz="2000" dirty="0">
                <a:latin typeface="+mn-lt"/>
              </a:rPr>
              <a:t>args[1] = 0</a:t>
            </a:r>
          </a:p>
          <a:p>
            <a:pPr marL="1079500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it-IT" sz="2000" dirty="0">
                <a:latin typeface="+mn-lt"/>
              </a:rPr>
              <a:t>args[4] = 4</a:t>
            </a: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364E71-05A8-BB7A-2F0B-788ADF7F91F6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509327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8DC04549-857F-3639-6B6B-DB1247DB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76DEABD2-343D-11E4-C0D1-03FCDDFE08E2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Classe </a:t>
            </a:r>
            <a:r>
              <a:rPr lang="pt-BR" sz="4000" b="1" dirty="0" err="1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java.util.Arrays</a:t>
            </a:r>
            <a:endParaRPr lang="pt-BR" sz="40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165BD-FCF4-D488-79CC-EFDBEB48B11E}"/>
              </a:ext>
            </a:extLst>
          </p:cNvPr>
          <p:cNvSpPr txBox="1">
            <a:spLocks/>
          </p:cNvSpPr>
          <p:nvPr/>
        </p:nvSpPr>
        <p:spPr>
          <a:xfrm>
            <a:off x="1257299" y="1825625"/>
            <a:ext cx="1038225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 err="1">
                <a:latin typeface="+mn-lt"/>
                <a:hlinkClick r:id="rId4"/>
              </a:rPr>
              <a:t>java.util.Arrays</a:t>
            </a:r>
            <a:r>
              <a:rPr lang="pt-BR" sz="2500" dirty="0">
                <a:latin typeface="+mn-lt"/>
              </a:rPr>
              <a:t>: oferece um conjunto de métodos estáticos para manipulação de </a:t>
            </a:r>
            <a:r>
              <a:rPr lang="pt-BR" sz="2500" dirty="0" err="1">
                <a:latin typeface="+mn-lt"/>
              </a:rPr>
              <a:t>arrays</a:t>
            </a: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 err="1">
                <a:latin typeface="+mn-lt"/>
              </a:rPr>
              <a:t>sort</a:t>
            </a: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 err="1">
                <a:latin typeface="+mn-lt"/>
              </a:rPr>
              <a:t>binarySearch</a:t>
            </a: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 err="1">
                <a:latin typeface="+mn-lt"/>
              </a:rPr>
              <a:t>equals</a:t>
            </a: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 err="1">
                <a:latin typeface="+mn-lt"/>
              </a:rPr>
              <a:t>fill</a:t>
            </a:r>
            <a:endParaRPr lang="pt-BR" sz="2500" dirty="0">
              <a:latin typeface="+mn-lt"/>
            </a:endParaRPr>
          </a:p>
          <a:p>
            <a:pPr marL="719138" indent="-358775">
              <a:buFont typeface="Arial" panose="020B0604020202020204" pitchFamily="34" charset="0"/>
              <a:buChar char="•"/>
              <a:tabLst>
                <a:tab pos="542925" algn="l"/>
              </a:tabLst>
            </a:pPr>
            <a:r>
              <a:rPr lang="pt-BR" sz="2500" dirty="0">
                <a:latin typeface="+mn-lt"/>
              </a:rPr>
              <a:t>...</a:t>
            </a: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0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b="1" dirty="0">
              <a:latin typeface="+mn-lt"/>
            </a:endParaRPr>
          </a:p>
          <a:p>
            <a:pPr marL="360363" indent="-360363">
              <a:buFont typeface="Arial" panose="020B0604020202020204" pitchFamily="34" charset="0"/>
              <a:buChar char="•"/>
              <a:tabLst>
                <a:tab pos="542925" algn="l"/>
              </a:tabLst>
            </a:pPr>
            <a:endParaRPr lang="pt-BR" sz="2500" dirty="0">
              <a:latin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D6280B-7188-892F-9DBC-FC3501EFDED0}"/>
              </a:ext>
            </a:extLst>
          </p:cNvPr>
          <p:cNvSpPr txBox="1"/>
          <p:nvPr/>
        </p:nvSpPr>
        <p:spPr>
          <a:xfrm>
            <a:off x="2200768" y="6253887"/>
            <a:ext cx="9358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</a:t>
            </a:r>
            <a:r>
              <a:rPr lang="en-US" sz="1200" dirty="0"/>
              <a:t>DEITEL, Paul; DEITEL, Harvey. Java: How to Program, Early Objects. 11. ed. Boston: Pearson, 2017. ISBN 978-0-13-474335-6.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439100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0E5C7345-7F59-7EB2-A21B-9625B044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>
            <a:extLst>
              <a:ext uri="{FF2B5EF4-FFF2-40B4-BE49-F238E27FC236}">
                <a16:creationId xmlns:a16="http://schemas.microsoft.com/office/drawing/2014/main" id="{FC535210-C700-C3EB-8B18-FF967ADAE404}"/>
              </a:ext>
            </a:extLst>
          </p:cNvPr>
          <p:cNvSpPr txBox="1"/>
          <p:nvPr/>
        </p:nvSpPr>
        <p:spPr>
          <a:xfrm>
            <a:off x="1951438" y="323850"/>
            <a:ext cx="7946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4800"/>
            </a:pPr>
            <a:r>
              <a:rPr lang="pt-BR" sz="40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Atividade em sala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C3C55A-434A-CBF4-2A9D-84DA66F054F1}"/>
              </a:ext>
            </a:extLst>
          </p:cNvPr>
          <p:cNvSpPr txBox="1"/>
          <p:nvPr/>
        </p:nvSpPr>
        <p:spPr>
          <a:xfrm>
            <a:off x="1058238" y="2065106"/>
            <a:ext cx="10536859" cy="4770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500" dirty="0"/>
              <a:t>Análise e execução de código no diretório </a:t>
            </a:r>
            <a:r>
              <a:rPr lang="pt-BR" sz="2500" dirty="0">
                <a:hlinkClick r:id="rId4"/>
              </a:rPr>
              <a:t>lectures/examples/07-arrays</a:t>
            </a:r>
          </a:p>
        </p:txBody>
      </p:sp>
    </p:spTree>
    <p:extLst>
      <p:ext uri="{BB962C8B-B14F-4D97-AF65-F5344CB8AC3E}">
        <p14:creationId xmlns:p14="http://schemas.microsoft.com/office/powerpoint/2010/main" val="290875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A920051-8DDB-45F0-A563-54A500CAA0BC}"/>
              </a:ext>
            </a:extLst>
          </p:cNvPr>
          <p:cNvSpPr/>
          <p:nvPr/>
        </p:nvSpPr>
        <p:spPr>
          <a:xfrm>
            <a:off x="4476064" y="5332535"/>
            <a:ext cx="3121367" cy="37555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www.linkedin.com/in/fabriciofsantana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061332D-81DD-4D18-B149-D98152FDD1B7}"/>
              </a:ext>
            </a:extLst>
          </p:cNvPr>
          <p:cNvSpPr/>
          <p:nvPr/>
        </p:nvSpPr>
        <p:spPr>
          <a:xfrm>
            <a:off x="4476064" y="5078620"/>
            <a:ext cx="2425664" cy="37555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fabricio.santana@idp.edu.br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9520</TotalTime>
  <Words>1560</Words>
  <Application>Microsoft Office PowerPoint</Application>
  <PresentationFormat>Widescreen</PresentationFormat>
  <Paragraphs>181</Paragraphs>
  <Slides>21</Slides>
  <Notes>21</Notes>
  <HiddenSlides>1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3" baseType="lpstr"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Fabricio Fernandes Santana</cp:lastModifiedBy>
  <cp:revision>15</cp:revision>
  <dcterms:created xsi:type="dcterms:W3CDTF">2020-10-29T22:33:37Z</dcterms:created>
  <dcterms:modified xsi:type="dcterms:W3CDTF">2026-04-10T11:15:54Z</dcterms:modified>
</cp:coreProperties>
</file>